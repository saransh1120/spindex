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1pPr>
    <a:lvl2pPr marL="4572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5pPr>
    <a:lvl6pPr marL="22860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6pPr>
    <a:lvl7pPr marL="27432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7pPr>
    <a:lvl8pPr marL="32004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8pPr>
    <a:lvl9pPr marL="36576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tableStyles" Target="tableStyles.xml"/><Relationship Id="rId1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1478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985687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C4D5ADD5-2BBC-4A94-8F86-D9013941F742}" type="datetimeFigureOut">
              <a:rPr lang="en-US"/>
              <a:t>10/6/2026</a:t>
            </a:fld>
            <a:endParaRPr lang="en-US"/>
          </a:p>
        </p:txBody>
      </p:sp>
      <p:sp>
        <p:nvSpPr>
          <p:cNvPr id="61331155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1300857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4344264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987246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ＭＳ Ｐゴシック"/>
      </a:defRPr>
    </a:lvl1pPr>
    <a:lvl2pPr marL="4572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5pPr>
    <a:lvl6pPr marL="22860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071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5195013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203559726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65F62A7E-A2F8-438F-9CF8-47DE63F471B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599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8796859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292084014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9920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39365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483722208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9330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8689440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801106252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4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0296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9308566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507332876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5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120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6545560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86257655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6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086509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8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99735127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5788991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60792E3-D524-454C-8AFD-A91972900BCB}" type="datetime1">
              <a:rPr lang="en-US"/>
              <a:t>10/6/2026</a:t>
            </a:fld>
            <a:endParaRPr lang="en-US"/>
          </a:p>
        </p:txBody>
      </p:sp>
      <p:sp>
        <p:nvSpPr>
          <p:cNvPr id="13044359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245830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6056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8162090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105802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08B7524-32A2-4C20-A58C-BC3BAA1042FC}" type="datetime1">
              <a:rPr lang="en-US"/>
              <a:t>10/6/2026</a:t>
            </a:fld>
            <a:endParaRPr lang="en-US"/>
          </a:p>
        </p:txBody>
      </p:sp>
      <p:sp>
        <p:nvSpPr>
          <p:cNvPr id="18927547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2769334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660215" name="Title 1"/>
          <p:cNvSpPr>
            <a:spLocks noGrp="1"/>
          </p:cNvSpPr>
          <p:nvPr>
            <p:ph type="title"/>
          </p:nvPr>
        </p:nvSpPr>
        <p:spPr bwMode="auto"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719347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32583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E994447-D6B2-43BB-A877-57F1A267B999}" type="datetime1">
              <a:rPr lang="en-US"/>
              <a:t>10/6/2026</a:t>
            </a:fld>
            <a:endParaRPr lang="en-US"/>
          </a:p>
        </p:txBody>
      </p:sp>
      <p:sp>
        <p:nvSpPr>
          <p:cNvPr id="584973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9127703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0788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8220805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8334862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919267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8920E16-BD35-483C-AA6B-346FC7E46DEA}" type="datetime1">
              <a:rPr lang="en-US"/>
              <a:t>10/6/2026</a:t>
            </a:fld>
            <a:endParaRPr lang="en-US"/>
          </a:p>
        </p:txBody>
      </p:sp>
      <p:sp>
        <p:nvSpPr>
          <p:cNvPr id="2203108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7077844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5882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717906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485812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4351505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6059607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033939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EAC6F8-5103-4FC0-A69E-5C6AE6469DA8}" type="datetime1">
              <a:rPr lang="en-US"/>
              <a:t>10/6/2026</a:t>
            </a:fld>
            <a:endParaRPr lang="en-US"/>
          </a:p>
        </p:txBody>
      </p:sp>
      <p:sp>
        <p:nvSpPr>
          <p:cNvPr id="72288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3435548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6827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017142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60C6921-0627-4C8F-83D5-0CF936D2FFDD}" type="datetime1">
              <a:rPr lang="en-US"/>
              <a:t>10/6/2026</a:t>
            </a:fld>
            <a:endParaRPr lang="en-US"/>
          </a:p>
        </p:txBody>
      </p:sp>
      <p:sp>
        <p:nvSpPr>
          <p:cNvPr id="17163705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7166147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7723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F08AD7-8103-40F8-983C-E2BA6BB9CBE0}" type="datetime1">
              <a:rPr lang="en-US"/>
              <a:t>10/6/2026</a:t>
            </a:fld>
            <a:endParaRPr lang="en-US"/>
          </a:p>
        </p:txBody>
      </p:sp>
      <p:sp>
        <p:nvSpPr>
          <p:cNvPr id="17102590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7248506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757638" name="Title 1"/>
          <p:cNvSpPr>
            <a:spLocks noGrp="1"/>
          </p:cNvSpPr>
          <p:nvPr>
            <p:ph type="title"/>
          </p:nvPr>
        </p:nvSpPr>
        <p:spPr bwMode="auto"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2246644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2745331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608264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F8C06B4-9380-4A4D-AF49-A3596E17DAF5}" type="datetime1">
              <a:rPr lang="en-US"/>
              <a:t>10/6/2026</a:t>
            </a:fld>
            <a:endParaRPr lang="en-US"/>
          </a:p>
        </p:txBody>
      </p:sp>
      <p:sp>
        <p:nvSpPr>
          <p:cNvPr id="3407061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4008627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505450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3216677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en-US"/>
          </a:p>
        </p:txBody>
      </p:sp>
      <p:sp>
        <p:nvSpPr>
          <p:cNvPr id="2193726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348745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F7FDEF1-C582-4E22-9E77-D68326471F28}" type="datetime1">
              <a:rPr lang="en-US"/>
              <a:t>10/6/2026</a:t>
            </a:fld>
            <a:endParaRPr lang="en-US"/>
          </a:p>
        </p:txBody>
      </p:sp>
      <p:sp>
        <p:nvSpPr>
          <p:cNvPr id="56314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6517260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9546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8989325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401078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3C3A68-6922-42D3-8905-ECC2D82A3469}" type="datetime1">
              <a:rPr lang="en-US"/>
              <a:t>10/6/2026</a:t>
            </a:fld>
            <a:endParaRPr lang="en-US"/>
          </a:p>
        </p:txBody>
      </p:sp>
      <p:sp>
        <p:nvSpPr>
          <p:cNvPr id="1350507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6362002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35848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41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8659167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377553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B69E9F4-7604-4950-A8B2-8ACDEDB1506E}" type="datetime1">
              <a:rPr lang="en-US"/>
              <a:t>10/6/2026</a:t>
            </a:fld>
            <a:endParaRPr lang="en-US"/>
          </a:p>
        </p:txBody>
      </p:sp>
      <p:sp>
        <p:nvSpPr>
          <p:cNvPr id="8808449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7941479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945938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18142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1592807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780A9602-A9A9-453F-AEF1-37B5837E02CD}" type="datetime1">
              <a:rPr lang="en-US"/>
              <a:t>10/6/2026</a:t>
            </a:fld>
            <a:endParaRPr lang="en-US"/>
          </a:p>
        </p:txBody>
      </p:sp>
      <p:sp>
        <p:nvSpPr>
          <p:cNvPr id="182962446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20340471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2pPr>
      <a:lvl3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3pPr>
      <a:lvl4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4pPr>
      <a:lvl5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5pPr>
      <a:lvl6pPr marL="4572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6pPr>
      <a:lvl7pPr marL="9144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7pPr>
      <a:lvl8pPr marL="13716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8pPr>
      <a:lvl9pPr marL="18288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9pPr>
    </p:titleStyle>
    <p:bodyStyle>
      <a:lvl1pPr marL="342900" indent="-342900" algn="l" defTabSz="457200" rtl="0">
        <a:spcBef>
          <a:spcPts val="0"/>
        </a:spcBef>
        <a:spcAft>
          <a:spcPts val="0"/>
        </a:spcAft>
        <a:buFont typeface="Arial"/>
        <a:buChar char="•"/>
        <a:defRPr sz="32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marL="742950" indent="-285750" algn="l" defTabSz="457200" rtl="0">
        <a:spcBef>
          <a:spcPts val="0"/>
        </a:spcBef>
        <a:spcAft>
          <a:spcPts val="0"/>
        </a:spcAft>
        <a:buFont typeface="Arial"/>
        <a:buChar char="–"/>
        <a:defRPr sz="2800">
          <a:solidFill>
            <a:schemeClr val="tx1"/>
          </a:solidFill>
          <a:latin typeface="TradeGothic"/>
          <a:ea typeface="ＭＳ Ｐゴシック"/>
          <a:cs typeface="+mn-cs"/>
        </a:defRPr>
      </a:lvl2pPr>
      <a:lvl3pPr marL="1143000" indent="-228600" algn="l" defTabSz="457200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TradeGothic"/>
          <a:ea typeface="ＭＳ Ｐゴシック"/>
          <a:cs typeface="+mn-cs"/>
        </a:defRPr>
      </a:lvl3pPr>
      <a:lvl4pPr marL="1600200" indent="-228600" algn="l" defTabSz="457200" rtl="0">
        <a:spcBef>
          <a:spcPts val="0"/>
        </a:spcBef>
        <a:spcAft>
          <a:spcPts val="0"/>
        </a:spcAft>
        <a:buFont typeface="Arial"/>
        <a:buChar char="–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4pPr>
      <a:lvl5pPr marL="2057400" indent="-228600" algn="l" defTabSz="457200" rtl="0">
        <a:spcBef>
          <a:spcPts val="0"/>
        </a:spcBef>
        <a:spcAft>
          <a:spcPts val="0"/>
        </a:spcAft>
        <a:buFont typeface="Arial"/>
        <a:buChar char="»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95913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35809156" name="Title 1"/>
          <p:cNvSpPr>
            <a:spLocks noGrp="1"/>
          </p:cNvSpPr>
          <p:nvPr>
            <p:ph type="title"/>
          </p:nvPr>
        </p:nvSpPr>
        <p:spPr bwMode="auto">
          <a:xfrm>
            <a:off x="609598" y="0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en-US" sz="3600" b="1">
                <a:solidFill>
                  <a:schemeClr val="tx2"/>
                </a:solidFill>
                <a:latin typeface="Garamond"/>
              </a:rPr>
              <a:t>SUSTAIN-A-THON (2.0) 2026</a:t>
            </a:r>
            <a:endParaRPr lang="en-US" sz="3600" b="1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44253927" name="TextBox 8"/>
          <p:cNvSpPr txBox="1">
            <a:spLocks noChangeArrowheads="1"/>
          </p:cNvSpPr>
          <p:nvPr/>
        </p:nvSpPr>
        <p:spPr bwMode="auto">
          <a:xfrm>
            <a:off x="-2" y="1731032"/>
            <a:ext cx="12191999" cy="404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endParaRPr lang="en-US" sz="1800"/>
          </a:p>
          <a:p>
            <a:pPr marL="342900" indent="-342900" algn="just">
              <a:lnSpc>
                <a:spcPct val="200000"/>
              </a:lnSpc>
              <a:buFont typeface="Wingdings"/>
              <a:buChar char="v"/>
              <a:defRPr/>
            </a:pPr>
            <a:r>
              <a:rPr lang="en-US" sz="1800" b="1">
                <a:latin typeface="Arial"/>
                <a:cs typeface="Arial"/>
              </a:rPr>
              <a:t>Problem Statement Title-  Spin-state determination of uncooperative orbital debris</a:t>
            </a:r>
            <a:endParaRPr/>
          </a:p>
          <a:p>
            <a:pPr marL="342900" indent="-342900" algn="just">
              <a:lnSpc>
                <a:spcPct val="200000"/>
              </a:lnSpc>
              <a:buFont typeface="Wingdings"/>
              <a:buChar char="v"/>
              <a:defRPr/>
            </a:pPr>
            <a:r>
              <a:rPr lang="en-US" sz="1800" b="1">
                <a:latin typeface="Arial"/>
                <a:cs typeface="Arial"/>
              </a:rPr>
              <a:t>Theme-  Space Technology &amp; Sustainability</a:t>
            </a:r>
            <a:endParaRPr/>
          </a:p>
          <a:p>
            <a:pPr marL="342900" indent="-342900" algn="just">
              <a:lnSpc>
                <a:spcPct val="200000"/>
              </a:lnSpc>
              <a:buFont typeface="Wingdings"/>
              <a:buChar char="v"/>
              <a:defRPr/>
            </a:pPr>
            <a:r>
              <a:rPr lang="en-US" sz="1800" b="1">
                <a:latin typeface="Arial"/>
                <a:cs typeface="Arial"/>
              </a:rPr>
              <a:t>PS Category-  Hardware</a:t>
            </a:r>
            <a:endParaRPr/>
          </a:p>
          <a:p>
            <a:pPr marL="342900" indent="-342900" algn="just">
              <a:lnSpc>
                <a:spcPct val="200000"/>
              </a:lnSpc>
              <a:buFont typeface="Wingdings"/>
              <a:buChar char="v"/>
              <a:defRPr/>
            </a:pPr>
            <a:r>
              <a:rPr lang="en-US" sz="1800" b="1">
                <a:latin typeface="Arial"/>
                <a:cs typeface="Arial"/>
              </a:rPr>
              <a:t>Team ID-  S080</a:t>
            </a:r>
            <a:endParaRPr/>
          </a:p>
          <a:p>
            <a:pPr marL="342900" indent="-342900" algn="just">
              <a:lnSpc>
                <a:spcPct val="200000"/>
              </a:lnSpc>
              <a:buFont typeface="Wingdings"/>
              <a:buChar char="v"/>
              <a:defRPr/>
            </a:pPr>
            <a:r>
              <a:rPr lang="en-US" sz="1800" b="1">
                <a:latin typeface="Arial"/>
                <a:cs typeface="Arial"/>
              </a:rPr>
              <a:t>Team Name-  ZEIT v1.0        Team Lead-  Sarthak Tyagi</a:t>
            </a:r>
            <a:endParaRPr lang="en-IN" sz="1800" b="1">
              <a:latin typeface="Arial"/>
              <a:cs typeface="Arial"/>
            </a:endParaRPr>
          </a:p>
        </p:txBody>
      </p:sp>
      <p:sp>
        <p:nvSpPr>
          <p:cNvPr id="1536484313" name="TextBox 1"/>
          <p:cNvSpPr txBox="1"/>
          <p:nvPr/>
        </p:nvSpPr>
        <p:spPr bwMode="auto">
          <a:xfrm>
            <a:off x="2539744" y="1142998"/>
            <a:ext cx="7112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>
                <a:latin typeface="Times New Roman"/>
                <a:cs typeface="Times New Roman"/>
              </a:rPr>
              <a:t>SPINDEX  —  Spin Determination by INDEX of Reflected Light</a:t>
            </a:r>
            <a:endParaRPr lang="en-IN" b="1">
              <a:latin typeface="Times New Roman"/>
              <a:cs typeface="Times New Roman"/>
            </a:endParaRPr>
          </a:p>
        </p:txBody>
      </p:sp>
      <p:pic>
        <p:nvPicPr>
          <p:cNvPr id="11979385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10342" y="127869"/>
            <a:ext cx="1055041" cy="1069931"/>
          </a:xfrm>
          <a:prstGeom prst="rect">
            <a:avLst/>
          </a:prstGeom>
        </p:spPr>
      </p:pic>
      <p:pic>
        <p:nvPicPr>
          <p:cNvPr id="133841426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9602" y="-710330"/>
            <a:ext cx="2563660" cy="2563660"/>
          </a:xfrm>
          <a:prstGeom prst="rect">
            <a:avLst/>
          </a:prstGeom>
        </p:spPr>
      </p:pic>
      <p:pic>
        <p:nvPicPr>
          <p:cNvPr id="190283018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285278" y="5311559"/>
            <a:ext cx="2388455" cy="9196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354681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95575897" name="Title 1"/>
          <p:cNvSpPr>
            <a:spLocks noGrp="1"/>
          </p:cNvSpPr>
          <p:nvPr>
            <p:ph type="title"/>
          </p:nvPr>
        </p:nvSpPr>
        <p:spPr bwMode="auto">
          <a:xfrm>
            <a:off x="182998" y="0"/>
            <a:ext cx="10972800" cy="1143000"/>
          </a:xfrm>
        </p:spPr>
        <p:txBody>
          <a:bodyPr/>
          <a:lstStyle/>
          <a:p>
            <a:pPr>
              <a:defRPr/>
            </a:pPr>
            <a:br>
              <a:rPr lang="en-US" sz="3600" b="1">
                <a:latin typeface="Times New Roman"/>
                <a:ea typeface="ＭＳ Ｐゴシック"/>
                <a:cs typeface="Times New Roman"/>
              </a:rPr>
            </a:br>
            <a:r>
              <a:rPr lang="en-US" sz="3600" b="1">
                <a:latin typeface="Times New Roman"/>
                <a:ea typeface="ＭＳ Ｐゴシック"/>
                <a:cs typeface="Times New Roman"/>
              </a:rPr>
              <a:t>SPINDEX  —  SPIN FROM REFLECTED LIGHT</a:t>
            </a:r>
            <a:endParaRPr/>
          </a:p>
        </p:txBody>
      </p:sp>
      <p:sp>
        <p:nvSpPr>
          <p:cNvPr id="1061806838" name="TextBox 8"/>
          <p:cNvSpPr txBox="1">
            <a:spLocks noChangeArrowheads="1"/>
          </p:cNvSpPr>
          <p:nvPr/>
        </p:nvSpPr>
        <p:spPr bwMode="auto">
          <a:xfrm>
            <a:off x="228600" y="1152144"/>
            <a:ext cx="11612880" cy="1783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>
              <a:buFont typeface="Wingdings"/>
              <a:buChar char="v"/>
              <a:defRPr/>
            </a:pPr>
            <a:r>
              <a:rPr lang="en-US" sz="2200" b="1" u="sng">
                <a:solidFill>
                  <a:schemeClr val="tx2"/>
                </a:solidFill>
                <a:latin typeface="Arial"/>
                <a:cs typeface="Arial"/>
              </a:rPr>
              <a:t>Proposed Solution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700">
                <a:latin typeface="Arial"/>
                <a:cs typeface="Arial"/>
              </a:rPr>
              <a:t>Reflected sunlight rises and falls as the target turns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700">
                <a:latin typeface="Arial"/>
                <a:cs typeface="Arial"/>
              </a:rPr>
              <a:t>That light curve carries rotation, precession and cone angle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700">
                <a:latin typeface="Arial"/>
                <a:cs typeface="Arial"/>
              </a:rPr>
              <a:t>Passive — no transponder, no cooperation, no contact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700">
                <a:latin typeface="Arial"/>
                <a:cs typeface="Arial"/>
              </a:rPr>
              <a:t>Scored against a firmware-commanded rate, so it is falsifiable</a:t>
            </a:r>
          </a:p>
        </p:txBody>
      </p:sp>
      <p:pic>
        <p:nvPicPr>
          <p:cNvPr id="2072354682" name="Picture 2072354681" descr="hero_gl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747" y="2926080"/>
            <a:ext cx="8629456" cy="3182112"/>
          </a:xfrm>
          <a:prstGeom prst="rect">
            <a:avLst/>
          </a:prstGeom>
        </p:spPr>
      </p:pic>
      <p:sp>
        <p:nvSpPr>
          <p:cNvPr id="2072354683" name="TextBox 2072354682"/>
          <p:cNvSpPr txBox="1"/>
          <p:nvPr/>
        </p:nvSpPr>
        <p:spPr>
          <a:xfrm>
            <a:off x="1779747" y="6163056"/>
            <a:ext cx="86294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rial"/>
              </a:rPr>
              <a:t>Rendered target at five rotation phases — the flash at t = 4.58 s is a panel turning face-on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50593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84370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TECHNICAL APPROACH</a:t>
            </a:r>
            <a:endParaRPr/>
          </a:p>
        </p:txBody>
      </p:sp>
      <p:sp>
        <p:nvSpPr>
          <p:cNvPr id="1263957722" name="TextBox 8"/>
          <p:cNvSpPr txBox="1">
            <a:spLocks noChangeArrowheads="1"/>
          </p:cNvSpPr>
          <p:nvPr/>
        </p:nvSpPr>
        <p:spPr bwMode="auto">
          <a:xfrm>
            <a:off x="228600" y="1133856"/>
            <a:ext cx="5943600" cy="2103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>
              <a:buFont typeface="Wingdings"/>
              <a:buChar char="v"/>
              <a:defRPr/>
            </a:pPr>
            <a:r>
              <a:rPr lang="en-US" sz="2000" b="1" u="sng">
                <a:solidFill>
                  <a:schemeClr val="tx2"/>
                </a:solidFill>
                <a:latin typeface="Arial"/>
                <a:cs typeface="Arial"/>
              </a:rPr>
              <a:t>Technologies and Methodology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Software — Python, NumPy, SciPy, OpenCV, emcee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Hardware — Arduino Uno, CNC Shield V3, 2 x NEMA-17, 10 W LED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Photometry → Lomb-Scargle → fold test → MCMC fit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Lomb-Scargle, not FFT: live capture is unevenly sampled</a:t>
            </a:r>
          </a:p>
        </p:txBody>
      </p:sp>
      <p:pic>
        <p:nvPicPr>
          <p:cNvPr id="1263957723" name="Picture 1263957722" descr="pipelin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" y="4283113"/>
            <a:ext cx="11338559" cy="1825077"/>
          </a:xfrm>
          <a:prstGeom prst="rect">
            <a:avLst/>
          </a:prstGeom>
        </p:spPr>
      </p:pic>
      <p:sp>
        <p:nvSpPr>
          <p:cNvPr id="1263957724" name="TextBox 1263957723"/>
          <p:cNvSpPr txBox="1"/>
          <p:nvPr/>
        </p:nvSpPr>
        <p:spPr>
          <a:xfrm>
            <a:off x="425196" y="6163056"/>
            <a:ext cx="1133855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rial"/>
              </a:rPr>
              <a:t>Six-stage inversion pipeline, running live on arriving frames</a:t>
            </a:r>
          </a:p>
        </p:txBody>
      </p:sp>
      <p:sp>
        <p:nvSpPr>
          <p:cNvPr id="1263957725" name="TextBox 1263957724"/>
          <p:cNvSpPr txBox="1"/>
          <p:nvPr/>
        </p:nvSpPr>
        <p:spPr>
          <a:xfrm>
            <a:off x="566928" y="361188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Arial"/>
              </a:rPr>
              <a:t>60 fps in — spin rate, precession and cone angle out, with error bars</a:t>
            </a:r>
          </a:p>
        </p:txBody>
      </p:sp>
      <p:pic>
        <p:nvPicPr>
          <p:cNvPr id="1263957726" name="Picture 1263957725" descr="clip_fra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37360"/>
            <a:ext cx="5669280" cy="1606822"/>
          </a:xfrm>
          <a:prstGeom prst="rect">
            <a:avLst/>
          </a:prstGeom>
        </p:spPr>
      </p:pic>
      <p:sp>
        <p:nvSpPr>
          <p:cNvPr id="1263957727" name="TextBox 1263957726"/>
          <p:cNvSpPr txBox="1"/>
          <p:nvPr/>
        </p:nvSpPr>
        <p:spPr>
          <a:xfrm>
            <a:off x="6263640" y="3399046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rial"/>
              </a:rPr>
              <a:t>Frames from a recorded run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23138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3065220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FEASIBILITY AND VIABILITY</a:t>
            </a:r>
            <a:endParaRPr/>
          </a:p>
        </p:txBody>
      </p:sp>
      <p:sp>
        <p:nvSpPr>
          <p:cNvPr id="878772084" name="TextBox 8"/>
          <p:cNvSpPr txBox="1">
            <a:spLocks noChangeArrowheads="1"/>
          </p:cNvSpPr>
          <p:nvPr/>
        </p:nvSpPr>
        <p:spPr bwMode="auto">
          <a:xfrm>
            <a:off x="228600" y="1133856"/>
            <a:ext cx="6400800" cy="2468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>
              <a:buFont typeface="Wingdings"/>
              <a:buChar char="v"/>
              <a:defRPr/>
            </a:pPr>
            <a:r>
              <a:rPr lang="en-US" sz="2000" b="1" u="sng">
                <a:solidFill>
                  <a:schemeClr val="tx2"/>
                </a:solidFill>
                <a:latin typeface="Arial"/>
                <a:cs typeface="Arial"/>
              </a:rPr>
              <a:t>Feasibility, Risks and Mitigation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Working prototype already built for ₹13,850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78 / 80 robustness runs and 44 / 44 unit tests pass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Driver cogging → TMC2209 with 256-step interpolation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Auto-exposure → locked, verified by a pixel-response test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P vs P/2 ambiguity → sub-harmonic fold walk</a:t>
            </a:r>
          </a:p>
        </p:txBody>
      </p:sp>
      <p:pic>
        <p:nvPicPr>
          <p:cNvPr id="878772085" name="Picture 878772084" descr="result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515" y="2761488"/>
            <a:ext cx="8503920" cy="3342188"/>
          </a:xfrm>
          <a:prstGeom prst="rect">
            <a:avLst/>
          </a:prstGeom>
        </p:spPr>
      </p:pic>
      <p:sp>
        <p:nvSpPr>
          <p:cNvPr id="878772086" name="TextBox 878772085"/>
          <p:cNvSpPr txBox="1"/>
          <p:nvPr/>
        </p:nvSpPr>
        <p:spPr>
          <a:xfrm>
            <a:off x="1842515" y="6158541"/>
            <a:ext cx="8503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rial"/>
              </a:rPr>
              <a:t>Fitted to a light curve measured through real video compression — not to the model's own output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74369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712496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IMPACT AND BENEFITS</a:t>
            </a:r>
            <a:endParaRPr/>
          </a:p>
        </p:txBody>
      </p:sp>
      <p:sp>
        <p:nvSpPr>
          <p:cNvPr id="2037295126" name="TextBox 8"/>
          <p:cNvSpPr txBox="1">
            <a:spLocks noChangeArrowheads="1"/>
          </p:cNvSpPr>
          <p:nvPr/>
        </p:nvSpPr>
        <p:spPr bwMode="auto">
          <a:xfrm>
            <a:off x="228600" y="1133856"/>
            <a:ext cx="6492240" cy="256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>
              <a:buFont typeface="Wingdings"/>
              <a:buChar char="v"/>
              <a:defRPr/>
            </a:pPr>
            <a:r>
              <a:rPr lang="en-US" sz="2000" b="1" u="sng">
                <a:solidFill>
                  <a:schemeClr val="tx2"/>
                </a:solidFill>
                <a:latin typeface="Arial"/>
                <a:cs typeface="Arial"/>
              </a:rPr>
              <a:t>Impact and Benefits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36,000+ tracked objects; 5–10 must be removed each year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Almost none of them has a known spin state today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Environmental — prevents fragmentation during capture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Economic — one camera screens a catalogue, not one object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Users — servicers, SSA agencies, satellite operators</a:t>
            </a:r>
          </a:p>
        </p:txBody>
      </p:sp>
      <p:pic>
        <p:nvPicPr>
          <p:cNvPr id="2037295127" name="Picture 2037295126" descr="hw_targ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716" y="3182112"/>
            <a:ext cx="3901440" cy="2926080"/>
          </a:xfrm>
          <a:prstGeom prst="rect">
            <a:avLst/>
          </a:prstGeom>
        </p:spPr>
      </p:pic>
      <p:sp>
        <p:nvSpPr>
          <p:cNvPr id="2037295128" name="TextBox 2037295127"/>
          <p:cNvSpPr txBox="1"/>
          <p:nvPr/>
        </p:nvSpPr>
        <p:spPr>
          <a:xfrm>
            <a:off x="1918716" y="6163056"/>
            <a:ext cx="3901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rial"/>
              </a:rPr>
              <a:t>Box-wing target on the spin axis</a:t>
            </a:r>
          </a:p>
        </p:txBody>
      </p:sp>
      <p:pic>
        <p:nvPicPr>
          <p:cNvPr id="2037295129" name="Picture 2037295128" descr="hw_crad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96" y="3182112"/>
            <a:ext cx="3901440" cy="2926080"/>
          </a:xfrm>
          <a:prstGeom prst="rect">
            <a:avLst/>
          </a:prstGeom>
        </p:spPr>
      </p:pic>
      <p:sp>
        <p:nvSpPr>
          <p:cNvPr id="2037295130" name="TextBox 2037295129"/>
          <p:cNvSpPr txBox="1"/>
          <p:nvPr/>
        </p:nvSpPr>
        <p:spPr>
          <a:xfrm>
            <a:off x="6368796" y="6163056"/>
            <a:ext cx="3901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rial"/>
              </a:rPr>
              <a:t>Cradle carrying the spin motor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59560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11600440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RESEARCH  AND REFERENCES</a:t>
            </a:r>
            <a:endParaRPr/>
          </a:p>
        </p:txBody>
      </p:sp>
      <p:sp>
        <p:nvSpPr>
          <p:cNvPr id="718438693" name="TextBox 8"/>
          <p:cNvSpPr txBox="1">
            <a:spLocks noChangeArrowheads="1"/>
          </p:cNvSpPr>
          <p:nvPr/>
        </p:nvSpPr>
        <p:spPr bwMode="auto">
          <a:xfrm>
            <a:off x="228600" y="1188720"/>
            <a:ext cx="11430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>
              <a:buFont typeface="Wingdings"/>
              <a:buChar char="v"/>
              <a:defRPr/>
            </a:pPr>
            <a:r>
              <a:rPr lang="en-US" sz="2000" b="1" u="sng">
                <a:solidFill>
                  <a:schemeClr val="tx2"/>
                </a:solidFill>
                <a:latin typeface="Arial"/>
                <a:cs typeface="Arial"/>
              </a:rPr>
              <a:t>Research and References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Zechmeister &amp; Kürster (2009) — Generalised Lomb-Scargle. A&amp;A 496, 577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Stellingwerf (1978) — Phase dispersion minimisation. ApJ 224, 953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Foreman-Mackey et al. (2013) — emcee. PASP 125, 306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ESA Space Environment Report — debris population statistics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Astroscale ADRAS-J (2024) — rendezvous with a spent upper stage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1600">
                <a:latin typeface="Arial"/>
                <a:cs typeface="Arial"/>
              </a:rPr>
              <a:t>Source and results — github.com/Sarthakk1407/SPINDEX</a:t>
            </a:r>
          </a:p>
        </p:txBody>
      </p:sp>
      <p:pic>
        <p:nvPicPr>
          <p:cNvPr id="1295595606" name="Picture 1295595605" descr="liv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415" y="3246120"/>
            <a:ext cx="4770120" cy="2862072"/>
          </a:xfrm>
          <a:prstGeom prst="rect">
            <a:avLst/>
          </a:prstGeom>
        </p:spPr>
      </p:pic>
      <p:sp>
        <p:nvSpPr>
          <p:cNvPr id="1295595607" name="TextBox 1295595606"/>
          <p:cNvSpPr txBox="1"/>
          <p:nvPr/>
        </p:nvSpPr>
        <p:spPr>
          <a:xfrm>
            <a:off x="3709415" y="6163056"/>
            <a:ext cx="4770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rial"/>
              </a:rPr>
              <a:t>Live monitor — light curve and running period estimate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>Crowdfunder, Inc.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dc:creator>Deepak</dc:creator>
  <cp:keywords/>
  <dc:description/>
  <cp:lastModifiedBy/>
  <cp:revision>3</cp:revision>
  <dcterms:created xsi:type="dcterms:W3CDTF">2013-12-12T18:46:50Z</dcterms:created>
  <dcterms:modified xsi:type="dcterms:W3CDTF">2026-10-06T13:37:52Z</dcterms:modified>
  <cp:category/>
</cp:coreProperties>
</file>